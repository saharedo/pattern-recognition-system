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8"/>
  </p:notesMasterIdLst>
  <p:handoutMasterIdLst>
    <p:handoutMasterId r:id="rId9"/>
  </p:handoutMasterIdLst>
  <p:sldIdLst>
    <p:sldId id="325" r:id="rId2"/>
    <p:sldId id="575" r:id="rId3"/>
    <p:sldId id="567" r:id="rId4"/>
    <p:sldId id="570" r:id="rId5"/>
    <p:sldId id="574" r:id="rId6"/>
    <p:sldId id="354" r:id="rId7"/>
  </p:sldIdLst>
  <p:sldSz cx="9144000" cy="6858000" type="screen4x3"/>
  <p:notesSz cx="7099300" cy="10234613"/>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58220"/>
    <a:srgbClr val="339933"/>
    <a:srgbClr val="006600"/>
    <a:srgbClr val="C00085"/>
    <a:srgbClr val="898989"/>
    <a:srgbClr val="33B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31" autoAdjust="0"/>
    <p:restoredTop sz="93979" autoAdjust="0"/>
  </p:normalViewPr>
  <p:slideViewPr>
    <p:cSldViewPr snapToGrid="0">
      <p:cViewPr varScale="1">
        <p:scale>
          <a:sx n="74" d="100"/>
          <a:sy n="74" d="100"/>
        </p:scale>
        <p:origin x="1052"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48" d="100"/>
          <a:sy n="48" d="100"/>
        </p:scale>
        <p:origin x="276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pPr/>
              <a:t>8/21/2026</a:t>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pPr/>
              <a:t>‹#›</a:t>
            </a:fld>
            <a:endParaRPr lang="en-US"/>
          </a:p>
        </p:txBody>
      </p:sp>
    </p:spTree>
    <p:extLst>
      <p:ext uri="{BB962C8B-B14F-4D97-AF65-F5344CB8AC3E}">
        <p14:creationId xmlns:p14="http://schemas.microsoft.com/office/powerpoint/2010/main" val="87395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pPr/>
              <a:t>21/8/2026</a:t>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pPr/>
              <a:t>‹#›</a:t>
            </a:fld>
            <a:endParaRPr lang="en-SG"/>
          </a:p>
        </p:txBody>
      </p:sp>
    </p:spTree>
    <p:extLst>
      <p:ext uri="{BB962C8B-B14F-4D97-AF65-F5344CB8AC3E}">
        <p14:creationId xmlns:p14="http://schemas.microsoft.com/office/powerpoint/2010/main" val="1663632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pPr defTabSz="914326">
              <a:defRPr/>
            </a:pPr>
            <a:fld id="{5E13ECD2-14D7-4265-AF23-95505127F74C}" type="slidenum">
              <a:rPr lang="en-SG">
                <a:solidFill>
                  <a:prstClr val="black"/>
                </a:solidFill>
                <a:latin typeface="Calibri"/>
              </a:rPr>
              <a:pPr defTabSz="914326">
                <a:defRPr/>
              </a:pPr>
              <a:t>1</a:t>
            </a:fld>
            <a:endParaRPr lang="en-SG">
              <a:solidFill>
                <a:prstClr val="black"/>
              </a:solidFill>
              <a:latin typeface="Calibri"/>
            </a:endParaRPr>
          </a:p>
        </p:txBody>
      </p:sp>
    </p:spTree>
    <p:extLst>
      <p:ext uri="{BB962C8B-B14F-4D97-AF65-F5344CB8AC3E}">
        <p14:creationId xmlns:p14="http://schemas.microsoft.com/office/powerpoint/2010/main" val="1071138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6" name="Picture 15"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4"/>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89565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Agenda</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dirty="0"/>
              <a:t>Agenda 1</a:t>
            </a:r>
          </a:p>
          <a:p>
            <a:pPr lvl="0"/>
            <a:r>
              <a:rPr lang="en-US" dirty="0"/>
              <a:t>Agenda 2</a:t>
            </a:r>
          </a:p>
          <a:p>
            <a:pPr lvl="0"/>
            <a:r>
              <a:rPr lang="en-US" dirty="0"/>
              <a:t>Agenda 3</a:t>
            </a:r>
          </a:p>
          <a:p>
            <a:pPr lvl="0"/>
            <a:r>
              <a:rPr lang="en-US" dirty="0"/>
              <a:t>Agenda 4</a:t>
            </a:r>
          </a:p>
          <a:p>
            <a:pPr lvl="0"/>
            <a:r>
              <a:rPr lang="en-US" dirty="0"/>
              <a:t>Agenda 5</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0" name="Picture 9"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2546795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dirty="0"/>
              <a:t>Title</a:t>
            </a:r>
          </a:p>
        </p:txBody>
      </p:sp>
      <p:pic>
        <p:nvPicPr>
          <p:cNvPr id="7" name="Picture 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pic>
        <p:nvPicPr>
          <p:cNvPr id="11" name="Picture 10" descr="Text, logo&#10;&#10;Description automatically generated">
            <a:extLst>
              <a:ext uri="{FF2B5EF4-FFF2-40B4-BE49-F238E27FC236}">
                <a16:creationId xmlns:a16="http://schemas.microsoft.com/office/drawing/2014/main" id="{AF7E7A68-C5A8-F140-6942-CEE76DEE11A7}"/>
              </a:ext>
            </a:extLst>
          </p:cNvPr>
          <p:cNvPicPr>
            <a:picLocks noChangeAspect="1"/>
          </p:cNvPicPr>
          <p:nvPr userDrawn="1"/>
        </p:nvPicPr>
        <p:blipFill>
          <a:blip r:embed="rId3"/>
          <a:stretch>
            <a:fillRect/>
          </a:stretch>
        </p:blipFill>
        <p:spPr>
          <a:xfrm>
            <a:off x="7271881" y="186812"/>
            <a:ext cx="1828800" cy="673597"/>
          </a:xfrm>
          <a:prstGeom prst="rect">
            <a:avLst/>
          </a:prstGeom>
        </p:spPr>
      </p:pic>
    </p:spTree>
    <p:extLst>
      <p:ext uri="{BB962C8B-B14F-4D97-AF65-F5344CB8AC3E}">
        <p14:creationId xmlns:p14="http://schemas.microsoft.com/office/powerpoint/2010/main" val="17807070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dirty="0"/>
              <a:t>Page </a:t>
            </a:r>
            <a:fld id="{2F63C605-4FC6-46DE-BC90-871762EA3F52}" type="slidenum">
              <a:rPr lang="en-SG" smtClean="0"/>
              <a:pPr algn="ctr"/>
              <a:t>‹#›</a:t>
            </a:fld>
            <a:endParaRPr lang="en-SG" dirty="0"/>
          </a:p>
        </p:txBody>
      </p:sp>
    </p:spTree>
    <p:extLst>
      <p:ext uri="{BB962C8B-B14F-4D97-AF65-F5344CB8AC3E}">
        <p14:creationId xmlns:p14="http://schemas.microsoft.com/office/powerpoint/2010/main" val="344046255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9"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ISSM Day2 worksheet</a:t>
            </a:r>
          </a:p>
        </p:txBody>
      </p:sp>
      <p:sp>
        <p:nvSpPr>
          <p:cNvPr id="6" name="Text Placeholder 5"/>
          <p:cNvSpPr>
            <a:spLocks noGrp="1"/>
          </p:cNvSpPr>
          <p:nvPr>
            <p:ph type="body" sz="quarter" idx="13"/>
          </p:nvPr>
        </p:nvSpPr>
        <p:spPr/>
        <p:txBody>
          <a:bodyPr/>
          <a:lstStyle/>
          <a:p>
            <a:pPr marL="342900" indent="-342900" algn="just">
              <a:buFont typeface="Arial" panose="020B0604020202020204" pitchFamily="34" charset="0"/>
              <a:buChar char="•"/>
            </a:pPr>
            <a:r>
              <a:rPr lang="en-US" b="0" dirty="0"/>
              <a:t>This activity involves a group discussion.</a:t>
            </a:r>
          </a:p>
          <a:p>
            <a:pPr marL="342900" indent="-342900" algn="just">
              <a:buFont typeface="Arial" panose="020B0604020202020204" pitchFamily="34" charset="0"/>
              <a:buChar char="•"/>
            </a:pPr>
            <a:r>
              <a:rPr lang="en-US" b="0" dirty="0"/>
              <a:t>You are </a:t>
            </a:r>
            <a:r>
              <a:rPr lang="en-US" b="0" dirty="0">
                <a:solidFill>
                  <a:srgbClr val="C00000"/>
                </a:solidFill>
              </a:rPr>
              <a:t>allowed</a:t>
            </a:r>
            <a:r>
              <a:rPr lang="en-US" b="0" dirty="0"/>
              <a:t> to use AI tools for this discussion.</a:t>
            </a: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1</a:t>
            </a:fld>
            <a:endParaRPr lang="en-SG" dirty="0"/>
          </a:p>
        </p:txBody>
      </p:sp>
    </p:spTree>
    <p:extLst>
      <p:ext uri="{BB962C8B-B14F-4D97-AF65-F5344CB8AC3E}">
        <p14:creationId xmlns:p14="http://schemas.microsoft.com/office/powerpoint/2010/main" val="314249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a:t>
            </a:r>
            <a:endParaRPr lang="en-SG" dirty="0"/>
          </a:p>
        </p:txBody>
      </p:sp>
      <p:sp>
        <p:nvSpPr>
          <p:cNvPr id="3" name="Text Placeholder 2"/>
          <p:cNvSpPr>
            <a:spLocks noGrp="1"/>
          </p:cNvSpPr>
          <p:nvPr>
            <p:ph type="body" sz="quarter" idx="13"/>
          </p:nvPr>
        </p:nvSpPr>
        <p:spPr/>
        <p:txBody>
          <a:bodyPr/>
          <a:lstStyle/>
          <a:p>
            <a:r>
              <a:rPr lang="en-US" dirty="0"/>
              <a:t>List your team members’ </a:t>
            </a:r>
            <a:r>
              <a:rPr lang="en-US" dirty="0">
                <a:highlight>
                  <a:srgbClr val="FFFF00"/>
                </a:highlight>
              </a:rPr>
              <a:t>full names</a:t>
            </a:r>
            <a:r>
              <a:rPr lang="en-US" dirty="0"/>
              <a:t> (as in your course registration)</a:t>
            </a:r>
            <a:endParaRPr lang="en-SG"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2</a:t>
            </a:fld>
            <a:endParaRPr lang="en-SG" dirty="0"/>
          </a:p>
        </p:txBody>
      </p:sp>
    </p:spTree>
    <p:extLst>
      <p:ext uri="{BB962C8B-B14F-4D97-AF65-F5344CB8AC3E}">
        <p14:creationId xmlns:p14="http://schemas.microsoft.com/office/powerpoint/2010/main" val="2150065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a:t>
            </a:r>
            <a:endParaRPr lang="en-SG" dirty="0"/>
          </a:p>
        </p:txBody>
      </p:sp>
      <p:sp>
        <p:nvSpPr>
          <p:cNvPr id="3" name="Text Placeholder 2"/>
          <p:cNvSpPr>
            <a:spLocks noGrp="1"/>
          </p:cNvSpPr>
          <p:nvPr>
            <p:ph type="body" sz="quarter" idx="13"/>
          </p:nvPr>
        </p:nvSpPr>
        <p:spPr>
          <a:xfrm>
            <a:off x="628650" y="1167027"/>
            <a:ext cx="7886700" cy="4690309"/>
          </a:xfrm>
        </p:spPr>
        <p:txBody>
          <a:bodyPr>
            <a:noAutofit/>
          </a:bodyPr>
          <a:lstStyle/>
          <a:p>
            <a:pPr marL="0" indent="0">
              <a:buNone/>
            </a:pPr>
            <a:r>
              <a:rPr lang="en-US" sz="1800" dirty="0">
                <a:solidFill>
                  <a:srgbClr val="C00000"/>
                </a:solidFill>
              </a:rPr>
              <a:t>Use case: An intelligent pipe inspection system</a:t>
            </a:r>
          </a:p>
          <a:p>
            <a:pPr marL="0" indent="0">
              <a:buNone/>
            </a:pPr>
            <a:r>
              <a:rPr lang="en-US" sz="1800" dirty="0">
                <a:solidFill>
                  <a:schemeClr val="tx1"/>
                </a:solidFill>
              </a:rPr>
              <a:t>In heavy rain, impervious surfaces such as roads and driveways can contribute a large amount of polluted stormwater. To prevent flooding, streets are usually lined with stormwater drains to move stormwater off the road quickly. These drains are connected to stormwater pipes that channel stormwater directly to a nearby water body.</a:t>
            </a:r>
            <a:endParaRPr lang="en-SG" sz="1800" dirty="0">
              <a:solidFill>
                <a:schemeClr val="tx1"/>
              </a:solidFill>
            </a:endParaRPr>
          </a:p>
          <a:p>
            <a:pPr marL="0" indent="0">
              <a:buNone/>
            </a:pPr>
            <a:r>
              <a:rPr lang="en-US" sz="1800" dirty="0">
                <a:solidFill>
                  <a:schemeClr val="tx1"/>
                </a:solidFill>
              </a:rPr>
              <a:t>These stormwater pipes are often monitored </a:t>
            </a:r>
            <a:r>
              <a:rPr lang="en-US" sz="1800" dirty="0"/>
              <a:t>to understand the status of the stormwater system, so that the local authority can plan maintenance and future facility development</a:t>
            </a:r>
            <a:r>
              <a:rPr lang="en-US" sz="1800" dirty="0">
                <a:solidFill>
                  <a:schemeClr val="tx1"/>
                </a:solidFill>
              </a:rPr>
              <a:t>. Currently, these pipes are inspected on-site. A certified technician guides a robot with a camera mounted and visually looks for defects. Once a defect is found, the technician rotates and zooms in the camera manually to get a better understanding of the defect. This process is time-consuming and expensive.</a:t>
            </a:r>
            <a:endParaRPr lang="en-SG" sz="1800" dirty="0">
              <a:solidFill>
                <a:schemeClr val="tx1"/>
              </a:solidFill>
            </a:endParaRPr>
          </a:p>
          <a:p>
            <a:pPr marL="0" indent="0">
              <a:buNone/>
            </a:pPr>
            <a:r>
              <a:rPr lang="en-US" sz="1800" dirty="0">
                <a:solidFill>
                  <a:schemeClr val="tx1"/>
                </a:solidFill>
              </a:rPr>
              <a:t>The local authority decided this process should be automated. They came to the start-up you are working in and sought a solution. They are looking at a system to identify five types of common defects in a pipe automatically. </a:t>
            </a:r>
            <a:endParaRPr lang="en-SG" sz="1800" dirty="0">
              <a:solidFill>
                <a:schemeClr val="tx1"/>
              </a:solidFill>
            </a:endParaRP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3</a:t>
            </a:fld>
            <a:endParaRPr lang="en-SG" dirty="0"/>
          </a:p>
        </p:txBody>
      </p:sp>
    </p:spTree>
    <p:extLst>
      <p:ext uri="{BB962C8B-B14F-4D97-AF65-F5344CB8AC3E}">
        <p14:creationId xmlns:p14="http://schemas.microsoft.com/office/powerpoint/2010/main" val="349131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endParaRPr lang="en-SG" dirty="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pPr algn="ctr"/>
              <a:t>4</a:t>
            </a:fld>
            <a:endParaRPr lang="en-SG" dirty="0"/>
          </a:p>
        </p:txBody>
      </p:sp>
      <p:sp>
        <p:nvSpPr>
          <p:cNvPr id="5" name="Rectangle 4"/>
          <p:cNvSpPr/>
          <p:nvPr/>
        </p:nvSpPr>
        <p:spPr>
          <a:xfrm>
            <a:off x="181153" y="1009182"/>
            <a:ext cx="8729933" cy="2862322"/>
          </a:xfrm>
          <a:prstGeom prst="rect">
            <a:avLst/>
          </a:prstGeom>
        </p:spPr>
        <p:txBody>
          <a:bodyPr wrap="square">
            <a:spAutoFit/>
          </a:bodyPr>
          <a:lstStyle/>
          <a:p>
            <a:pPr marR="18415" lvl="0" algn="just">
              <a:spcBef>
                <a:spcPts val="0"/>
              </a:spcBef>
              <a:spcAft>
                <a:spcPts val="0"/>
              </a:spcAft>
              <a:tabLst>
                <a:tab pos="457200" algn="l"/>
              </a:tabLst>
            </a:pPr>
            <a:r>
              <a:rPr lang="en-US" dirty="0">
                <a:ea typeface="SimSun" panose="02010600030101010101" pitchFamily="2" charset="-122"/>
                <a:cs typeface="Times New Roman" panose="02020603050405020304" pitchFamily="18" charset="0"/>
              </a:rPr>
              <a:t>To further enhance the automated robot vision-based inspection solution, your company has decided to deploy a set of IoT sensors to provide continuous pipe monitoring, such as a water flow sensor. Table 1 provides an example of a water flow sensor dataset. These sensor data are updated at an interval of one hour. You are asked to predict the risk of choked drainage using the water flow sensor data. The change in the water flow sensor reading over time might give you some insight. For example, if the pipe is choked, the water flow speed might suddenly decrease to a smaller value. </a:t>
            </a:r>
            <a:r>
              <a:rPr lang="en-US" b="1" dirty="0">
                <a:solidFill>
                  <a:srgbClr val="000000"/>
                </a:solidFill>
                <a:ea typeface="SimSun" panose="02010600030101010101" pitchFamily="2" charset="-122"/>
                <a:cs typeface="Times New Roman" panose="02020603050405020304" pitchFamily="18" charset="0"/>
              </a:rPr>
              <a:t>Evaluate whether the Haar wavelet transformation can indicate the pipe choke (i.e., a significant change in the water flow using sensor readings over time) from the water level data provided in Table 1</a:t>
            </a:r>
            <a:r>
              <a:rPr lang="en-US" dirty="0">
                <a:solidFill>
                  <a:srgbClr val="000000"/>
                </a:solidFill>
                <a:ea typeface="SimSun" panose="02010600030101010101" pitchFamily="2" charset="-122"/>
                <a:cs typeface="Times New Roman" panose="02020603050405020304" pitchFamily="18" charset="0"/>
              </a:rPr>
              <a:t>.</a:t>
            </a:r>
            <a:endParaRPr lang="en-SG" dirty="0">
              <a:solidFill>
                <a:srgbClr val="000000"/>
              </a:solidFill>
              <a:ea typeface="SimSun" panose="02010600030101010101" pitchFamily="2" charset="-122"/>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69331160"/>
              </p:ext>
            </p:extLst>
          </p:nvPr>
        </p:nvGraphicFramePr>
        <p:xfrm>
          <a:off x="181153" y="4497727"/>
          <a:ext cx="8729930" cy="1645920"/>
        </p:xfrm>
        <a:graphic>
          <a:graphicData uri="http://schemas.openxmlformats.org/drawingml/2006/table">
            <a:tbl>
              <a:tblPr firstRow="1" firstCol="1" bandRow="1">
                <a:tableStyleId>{5940675A-B579-460E-94D1-54222C63F5DA}</a:tableStyleId>
              </a:tblPr>
              <a:tblGrid>
                <a:gridCol w="2005194">
                  <a:extLst>
                    <a:ext uri="{9D8B030D-6E8A-4147-A177-3AD203B41FA5}">
                      <a16:colId xmlns:a16="http://schemas.microsoft.com/office/drawing/2014/main" val="870362776"/>
                    </a:ext>
                  </a:extLst>
                </a:gridCol>
                <a:gridCol w="840155">
                  <a:extLst>
                    <a:ext uri="{9D8B030D-6E8A-4147-A177-3AD203B41FA5}">
                      <a16:colId xmlns:a16="http://schemas.microsoft.com/office/drawing/2014/main" val="423158647"/>
                    </a:ext>
                  </a:extLst>
                </a:gridCol>
                <a:gridCol w="840155">
                  <a:extLst>
                    <a:ext uri="{9D8B030D-6E8A-4147-A177-3AD203B41FA5}">
                      <a16:colId xmlns:a16="http://schemas.microsoft.com/office/drawing/2014/main" val="1618108968"/>
                    </a:ext>
                  </a:extLst>
                </a:gridCol>
                <a:gridCol w="840155">
                  <a:extLst>
                    <a:ext uri="{9D8B030D-6E8A-4147-A177-3AD203B41FA5}">
                      <a16:colId xmlns:a16="http://schemas.microsoft.com/office/drawing/2014/main" val="2236720028"/>
                    </a:ext>
                  </a:extLst>
                </a:gridCol>
                <a:gridCol w="840155">
                  <a:extLst>
                    <a:ext uri="{9D8B030D-6E8A-4147-A177-3AD203B41FA5}">
                      <a16:colId xmlns:a16="http://schemas.microsoft.com/office/drawing/2014/main" val="1329103458"/>
                    </a:ext>
                  </a:extLst>
                </a:gridCol>
                <a:gridCol w="840155">
                  <a:extLst>
                    <a:ext uri="{9D8B030D-6E8A-4147-A177-3AD203B41FA5}">
                      <a16:colId xmlns:a16="http://schemas.microsoft.com/office/drawing/2014/main" val="4027049102"/>
                    </a:ext>
                  </a:extLst>
                </a:gridCol>
                <a:gridCol w="840155">
                  <a:extLst>
                    <a:ext uri="{9D8B030D-6E8A-4147-A177-3AD203B41FA5}">
                      <a16:colId xmlns:a16="http://schemas.microsoft.com/office/drawing/2014/main" val="1443836643"/>
                    </a:ext>
                  </a:extLst>
                </a:gridCol>
                <a:gridCol w="841903">
                  <a:extLst>
                    <a:ext uri="{9D8B030D-6E8A-4147-A177-3AD203B41FA5}">
                      <a16:colId xmlns:a16="http://schemas.microsoft.com/office/drawing/2014/main" val="3249801360"/>
                    </a:ext>
                  </a:extLst>
                </a:gridCol>
                <a:gridCol w="841903">
                  <a:extLst>
                    <a:ext uri="{9D8B030D-6E8A-4147-A177-3AD203B41FA5}">
                      <a16:colId xmlns:a16="http://schemas.microsoft.com/office/drawing/2014/main" val="3235730867"/>
                    </a:ext>
                  </a:extLst>
                </a:gridCol>
              </a:tblGrid>
              <a:tr h="183515">
                <a:tc gridSpan="9">
                  <a:txBody>
                    <a:bodyPr/>
                    <a:lstStyle/>
                    <a:p>
                      <a:pPr marL="0" marR="18415" algn="just">
                        <a:spcBef>
                          <a:spcPts val="0"/>
                        </a:spcBef>
                        <a:spcAft>
                          <a:spcPts val="0"/>
                        </a:spcAft>
                        <a:tabLst>
                          <a:tab pos="4286250" algn="l"/>
                          <a:tab pos="4572000" algn="l"/>
                        </a:tabLst>
                      </a:pPr>
                      <a:r>
                        <a:rPr lang="en-US" sz="1800" dirty="0">
                          <a:solidFill>
                            <a:schemeClr val="tx1"/>
                          </a:solidFill>
                          <a:effectLst/>
                          <a:latin typeface="+mn-lt"/>
                          <a:ea typeface="SimSun" panose="02010600030101010101" pitchFamily="2" charset="-122"/>
                          <a:cs typeface="Times New Roman" panose="02020603050405020304" pitchFamily="18" charset="0"/>
                        </a:rPr>
                        <a:t>Table 1. An example of a water flow sensor dataset used for pipe monitoring. These sensor data are updated at an interval of one hour.</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dirty="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tc hMerge="1">
                  <a:txBody>
                    <a:bodyPr/>
                    <a:lstStyle/>
                    <a:p>
                      <a:pPr marL="0" marR="18415" algn="just">
                        <a:spcBef>
                          <a:spcPts val="0"/>
                        </a:spcBef>
                        <a:spcAft>
                          <a:spcPts val="0"/>
                        </a:spcAft>
                        <a:tabLst>
                          <a:tab pos="4286250" algn="l"/>
                          <a:tab pos="4572000" algn="l"/>
                        </a:tabLst>
                      </a:pPr>
                      <a:endParaRPr lang="en-SG" sz="1800" dirty="0">
                        <a:solidFill>
                          <a:srgbClr val="000000"/>
                        </a:solidFill>
                        <a:effectLst/>
                        <a:latin typeface="Palatino"/>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67277772"/>
                  </a:ext>
                </a:extLst>
              </a:tr>
              <a:tr h="183515">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Signal index</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1</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2</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4</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5</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7</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8</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16766495"/>
                  </a:ext>
                </a:extLst>
              </a:tr>
              <a:tr h="561340">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Water flow sensor reading (meter/second)</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0.7</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0.8</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0.4</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0.3</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a:solidFill>
                            <a:schemeClr val="tx1"/>
                          </a:solidFill>
                          <a:effectLst/>
                          <a:latin typeface="+mn-lt"/>
                        </a:rPr>
                        <a:t>0.6</a:t>
                      </a:r>
                      <a:endParaRPr lang="en-SG" sz="180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18415" algn="ctr">
                        <a:spcBef>
                          <a:spcPts val="0"/>
                        </a:spcBef>
                        <a:spcAft>
                          <a:spcPts val="0"/>
                        </a:spcAft>
                        <a:tabLst>
                          <a:tab pos="4286250" algn="l"/>
                          <a:tab pos="4572000" algn="l"/>
                        </a:tabLst>
                      </a:pPr>
                      <a:r>
                        <a:rPr lang="en-US" sz="1800" dirty="0">
                          <a:solidFill>
                            <a:schemeClr val="tx1"/>
                          </a:solidFill>
                          <a:effectLst/>
                          <a:latin typeface="+mn-lt"/>
                        </a:rPr>
                        <a:t>0.6</a:t>
                      </a:r>
                      <a:endParaRPr lang="en-SG" sz="1800" dirty="0">
                        <a:solidFill>
                          <a:schemeClr val="tx1"/>
                        </a:solidFill>
                        <a:effectLst/>
                        <a:latin typeface="+mn-lt"/>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77137291"/>
                  </a:ext>
                </a:extLst>
              </a:tr>
            </a:tbl>
          </a:graphicData>
        </a:graphic>
      </p:graphicFrame>
    </p:spTree>
    <p:extLst>
      <p:ext uri="{BB962C8B-B14F-4D97-AF65-F5344CB8AC3E}">
        <p14:creationId xmlns:p14="http://schemas.microsoft.com/office/powerpoint/2010/main" val="4183104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Your answers</a:t>
            </a:r>
            <a:endParaRPr lang="en-SG" dirty="0"/>
          </a:p>
        </p:txBody>
      </p:sp>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pPr algn="ctr"/>
              <a:t>5</a:t>
            </a:fld>
            <a:endParaRPr lang="en-SG" dirty="0"/>
          </a:p>
        </p:txBody>
      </p:sp>
    </p:spTree>
    <p:extLst>
      <p:ext uri="{BB962C8B-B14F-4D97-AF65-F5344CB8AC3E}">
        <p14:creationId xmlns:p14="http://schemas.microsoft.com/office/powerpoint/2010/main" val="110086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AA2D47-3826-C90D-0D70-70D6E58547AB}"/>
              </a:ext>
            </a:extLst>
          </p:cNvPr>
          <p:cNvSpPr>
            <a:spLocks noGrp="1"/>
          </p:cNvSpPr>
          <p:nvPr>
            <p:ph type="title"/>
          </p:nvPr>
        </p:nvSpPr>
        <p:spPr/>
        <p:txBody>
          <a:bodyPr/>
          <a:lstStyle/>
          <a:p>
            <a:r>
              <a:rPr lang="en-US" dirty="0"/>
              <a:t>AI Tool Declaration</a:t>
            </a:r>
            <a:endParaRPr lang="en-SG" dirty="0"/>
          </a:p>
        </p:txBody>
      </p:sp>
      <p:graphicFrame>
        <p:nvGraphicFramePr>
          <p:cNvPr id="5" name="Table 4">
            <a:extLst>
              <a:ext uri="{FF2B5EF4-FFF2-40B4-BE49-F238E27FC236}">
                <a16:creationId xmlns:a16="http://schemas.microsoft.com/office/drawing/2014/main" id="{6BC3A709-CDB4-0254-531A-9D68A4B6FB54}"/>
              </a:ext>
            </a:extLst>
          </p:cNvPr>
          <p:cNvGraphicFramePr>
            <a:graphicFrameLocks noGrp="1"/>
          </p:cNvGraphicFramePr>
          <p:nvPr/>
        </p:nvGraphicFramePr>
        <p:xfrm>
          <a:off x="342181" y="1164086"/>
          <a:ext cx="8318740" cy="4023360"/>
        </p:xfrm>
        <a:graphic>
          <a:graphicData uri="http://schemas.openxmlformats.org/drawingml/2006/table">
            <a:tbl>
              <a:tblPr firstRow="1" bandRow="1">
                <a:tableStyleId>{5C22544A-7EE6-4342-B048-85BDC9FD1C3A}</a:tableStyleId>
              </a:tblPr>
              <a:tblGrid>
                <a:gridCol w="8318740">
                  <a:extLst>
                    <a:ext uri="{9D8B030D-6E8A-4147-A177-3AD203B41FA5}">
                      <a16:colId xmlns:a16="http://schemas.microsoft.com/office/drawing/2014/main" val="2368900831"/>
                    </a:ext>
                  </a:extLst>
                </a:gridCol>
              </a:tblGrid>
              <a:tr h="370840">
                <a:tc>
                  <a:txBody>
                    <a:bodyPr/>
                    <a:lstStyle/>
                    <a:p>
                      <a:r>
                        <a:rPr lang="en-US" b="0" dirty="0">
                          <a:solidFill>
                            <a:schemeClr val="tx1"/>
                          </a:solidFill>
                        </a:rPr>
                        <a:t>[</a:t>
                      </a:r>
                      <a:r>
                        <a:rPr lang="en-US" b="0" i="1" dirty="0">
                          <a:solidFill>
                            <a:schemeClr val="tx1"/>
                          </a:solidFill>
                        </a:rPr>
                        <a:t>Sample declaration copied from Canvas</a:t>
                      </a:r>
                      <a:r>
                        <a:rPr lang="en-US" b="0" dirty="0">
                          <a:solidFill>
                            <a:schemeClr val="tx1"/>
                          </a:solidFill>
                        </a:rPr>
                        <a:t>]</a:t>
                      </a:r>
                    </a:p>
                    <a:p>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didn't use any AI tool.</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The authors used [AI tool name, e.g., GPT-5.1] to [describe specific uses: e.g., generate ideas, format paragraphs, improve expression, </a:t>
                      </a:r>
                      <a:r>
                        <a:rPr lang="en-US" b="0" dirty="0" err="1">
                          <a:solidFill>
                            <a:schemeClr val="tx1"/>
                          </a:solidFill>
                        </a:rPr>
                        <a:t>analyse</a:t>
                      </a:r>
                      <a:r>
                        <a:rPr lang="en-US" b="0" dirty="0">
                          <a:solidFill>
                            <a:schemeClr val="tx1"/>
                          </a:solidFill>
                        </a:rPr>
                        <a:t> effectiveness, create images and illustrations, produce drafts, refine, and/or </a:t>
                      </a:r>
                      <a:r>
                        <a:rPr lang="en-US" b="0" dirty="0" err="1">
                          <a:solidFill>
                            <a:schemeClr val="tx1"/>
                          </a:solidFill>
                        </a:rPr>
                        <a:t>finalise</a:t>
                      </a:r>
                      <a:r>
                        <a:rPr lang="en-US" b="0" dirty="0">
                          <a:solidFill>
                            <a:schemeClr val="tx1"/>
                          </a:solidFill>
                        </a:rPr>
                        <a:t> my assignment]. The authors are responsible for the content and quality of the submitted work.</a:t>
                      </a:r>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7375410"/>
                  </a:ext>
                </a:extLst>
              </a:tr>
              <a:tr h="370840">
                <a:tc>
                  <a:txBody>
                    <a:bodyPr/>
                    <a:lstStyle/>
                    <a:p>
                      <a:r>
                        <a:rPr lang="en-US" b="0" dirty="0">
                          <a:solidFill>
                            <a:schemeClr val="tx1"/>
                          </a:solidFill>
                        </a:rPr>
                        <a:t>[</a:t>
                      </a:r>
                      <a:r>
                        <a:rPr lang="en-US" b="0" i="1" dirty="0">
                          <a:solidFill>
                            <a:schemeClr val="tx1"/>
                          </a:solidFill>
                        </a:rPr>
                        <a:t>Provide your declaration here]</a:t>
                      </a:r>
                    </a:p>
                    <a:p>
                      <a:endParaRPr lang="en-SG" b="0" dirty="0">
                        <a:solidFill>
                          <a:schemeClr val="tx1"/>
                        </a:solidFill>
                      </a:endParaRPr>
                    </a:p>
                    <a:p>
                      <a:endParaRPr lang="en-SG" b="0" dirty="0">
                        <a:solidFill>
                          <a:schemeClr val="tx1"/>
                        </a:solidFill>
                      </a:endParaRPr>
                    </a:p>
                    <a:p>
                      <a:endParaRPr lang="en-SG" b="0" dirty="0">
                        <a:solidFill>
                          <a:schemeClr val="tx1"/>
                        </a:solidFill>
                      </a:endParaRPr>
                    </a:p>
                    <a:p>
                      <a:endParaRPr lang="en-SG"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71435"/>
                  </a:ext>
                </a:extLst>
              </a:tr>
            </a:tbl>
          </a:graphicData>
        </a:graphic>
      </p:graphicFrame>
      <p:sp>
        <p:nvSpPr>
          <p:cNvPr id="2" name="Slide Number Placeholder 1">
            <a:extLst>
              <a:ext uri="{FF2B5EF4-FFF2-40B4-BE49-F238E27FC236}">
                <a16:creationId xmlns:a16="http://schemas.microsoft.com/office/drawing/2014/main" id="{C73EBF33-7EC1-0415-FC13-8DA246378C33}"/>
              </a:ext>
            </a:extLst>
          </p:cNvPr>
          <p:cNvSpPr>
            <a:spLocks noGrp="1"/>
          </p:cNvSpPr>
          <p:nvPr>
            <p:ph type="sldNum" sz="quarter" idx="4"/>
          </p:nvPr>
        </p:nvSpPr>
        <p:spPr/>
        <p:txBody>
          <a:bodyPr/>
          <a:lstStyle/>
          <a:p>
            <a:pPr algn="ctr"/>
            <a:r>
              <a:rPr lang="en-SG"/>
              <a:t>Page </a:t>
            </a:r>
            <a:fld id="{2F63C605-4FC6-46DE-BC90-871762EA3F52}" type="slidenum">
              <a:rPr lang="en-SG" smtClean="0"/>
              <a:pPr algn="ctr"/>
              <a:t>6</a:t>
            </a:fld>
            <a:endParaRPr lang="en-SG" dirty="0"/>
          </a:p>
        </p:txBody>
      </p:sp>
    </p:spTree>
    <p:extLst>
      <p:ext uri="{BB962C8B-B14F-4D97-AF65-F5344CB8AC3E}">
        <p14:creationId xmlns:p14="http://schemas.microsoft.com/office/powerpoint/2010/main" val="3701171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TOFOOTER" val="No"/>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Theme1" id="{91B66467-7EFC-4B58-A0EB-3450E8B960CD}" vid="{B85C76FD-7EC2-4663-96A4-3E9E85EF7C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5533</TotalTime>
  <Words>541</Words>
  <Application>Microsoft Office PowerPoint</Application>
  <PresentationFormat>On-screen Show (4:3)</PresentationFormat>
  <Paragraphs>48</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SimSun</vt:lpstr>
      <vt:lpstr>Arial</vt:lpstr>
      <vt:lpstr>Calibri</vt:lpstr>
      <vt:lpstr>1_Theme1</vt:lpstr>
      <vt:lpstr>ISSM Day2 worksheet</vt:lpstr>
      <vt:lpstr>Team members</vt:lpstr>
      <vt:lpstr>Case study</vt:lpstr>
      <vt:lpstr>Question</vt:lpstr>
      <vt:lpstr>Your answers</vt:lpstr>
      <vt:lpstr>AI Tool 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lastModifiedBy>Tian Jing</cp:lastModifiedBy>
  <cp:revision>1075</cp:revision>
  <cp:lastPrinted>2017-10-05T01:59:11Z</cp:lastPrinted>
  <dcterms:created xsi:type="dcterms:W3CDTF">2014-12-11T07:55:35Z</dcterms:created>
  <dcterms:modified xsi:type="dcterms:W3CDTF">2026-08-21T06:33:31Z</dcterms:modified>
</cp:coreProperties>
</file>