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10"/>
  </p:notesMasterIdLst>
  <p:handoutMasterIdLst>
    <p:handoutMasterId r:id="rId11"/>
  </p:handoutMasterIdLst>
  <p:sldIdLst>
    <p:sldId id="325" r:id="rId2"/>
    <p:sldId id="576" r:id="rId3"/>
    <p:sldId id="567" r:id="rId4"/>
    <p:sldId id="570" r:id="rId5"/>
    <p:sldId id="568" r:id="rId6"/>
    <p:sldId id="569" r:id="rId7"/>
    <p:sldId id="571" r:id="rId8"/>
    <p:sldId id="354" r:id="rId9"/>
  </p:sldIdLst>
  <p:sldSz cx="9144000" cy="6858000" type="screen4x3"/>
  <p:notesSz cx="7099300" cy="10234613"/>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F7E"/>
    <a:srgbClr val="F58220"/>
    <a:srgbClr val="339933"/>
    <a:srgbClr val="006600"/>
    <a:srgbClr val="C00085"/>
    <a:srgbClr val="898989"/>
    <a:srgbClr val="33B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3979" autoAdjust="0"/>
  </p:normalViewPr>
  <p:slideViewPr>
    <p:cSldViewPr snapToGrid="0">
      <p:cViewPr varScale="1">
        <p:scale>
          <a:sx n="74" d="100"/>
          <a:sy n="74" d="100"/>
        </p:scale>
        <p:origin x="1052"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0"/>
    </p:cViewPr>
  </p:sorterViewPr>
  <p:notesViewPr>
    <p:cSldViewPr snapToGrid="0">
      <p:cViewPr varScale="1">
        <p:scale>
          <a:sx n="48" d="100"/>
          <a:sy n="48" d="100"/>
        </p:scale>
        <p:origin x="276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76363" cy="511731"/>
          </a:xfrm>
          <a:prstGeom prst="rect">
            <a:avLst/>
          </a:prstGeom>
        </p:spPr>
        <p:txBody>
          <a:bodyPr vert="horz" lIns="99024" tIns="49512" rIns="99024" bIns="49512" rtlCol="0"/>
          <a:lstStyle>
            <a:lvl1pPr algn="l">
              <a:defRPr sz="1200"/>
            </a:lvl1pPr>
          </a:lstStyle>
          <a:p>
            <a:endParaRPr lang="en-US"/>
          </a:p>
        </p:txBody>
      </p:sp>
      <p:sp>
        <p:nvSpPr>
          <p:cNvPr id="3" name="Date Placeholder 2"/>
          <p:cNvSpPr>
            <a:spLocks noGrp="1"/>
          </p:cNvSpPr>
          <p:nvPr>
            <p:ph type="dt" sz="quarter" idx="1"/>
          </p:nvPr>
        </p:nvSpPr>
        <p:spPr>
          <a:xfrm>
            <a:off x="4021297" y="2"/>
            <a:ext cx="3076363" cy="511731"/>
          </a:xfrm>
          <a:prstGeom prst="rect">
            <a:avLst/>
          </a:prstGeom>
        </p:spPr>
        <p:txBody>
          <a:bodyPr vert="horz" lIns="99024" tIns="49512" rIns="99024" bIns="49512" rtlCol="0"/>
          <a:lstStyle>
            <a:lvl1pPr algn="r">
              <a:defRPr sz="1200"/>
            </a:lvl1pPr>
          </a:lstStyle>
          <a:p>
            <a:fld id="{43F1A4C9-FB5C-B247-A357-650712A3F0A8}" type="datetimeFigureOut">
              <a:rPr lang="en-US" smtClean="0"/>
              <a:pPr/>
              <a:t>7/5/2026</a:t>
            </a:fld>
            <a:endParaRPr lang="en-US"/>
          </a:p>
        </p:txBody>
      </p:sp>
      <p:sp>
        <p:nvSpPr>
          <p:cNvPr id="4" name="Footer Placeholder 3"/>
          <p:cNvSpPr>
            <a:spLocks noGrp="1"/>
          </p:cNvSpPr>
          <p:nvPr>
            <p:ph type="ftr" sz="quarter" idx="2"/>
          </p:nvPr>
        </p:nvSpPr>
        <p:spPr>
          <a:xfrm>
            <a:off x="2" y="9721108"/>
            <a:ext cx="3076363" cy="511731"/>
          </a:xfrm>
          <a:prstGeom prst="rect">
            <a:avLst/>
          </a:prstGeom>
        </p:spPr>
        <p:txBody>
          <a:bodyPr vert="horz" lIns="99024" tIns="49512" rIns="99024" bIns="49512" rtlCol="0" anchor="b"/>
          <a:lstStyle>
            <a:lvl1pPr algn="l">
              <a:defRPr sz="1200"/>
            </a:lvl1pPr>
          </a:lstStyle>
          <a:p>
            <a:endParaRPr lang="en-US"/>
          </a:p>
        </p:txBody>
      </p:sp>
      <p:sp>
        <p:nvSpPr>
          <p:cNvPr id="5" name="Slide Number Placeholder 4"/>
          <p:cNvSpPr>
            <a:spLocks noGrp="1"/>
          </p:cNvSpPr>
          <p:nvPr>
            <p:ph type="sldNum" sz="quarter" idx="3"/>
          </p:nvPr>
        </p:nvSpPr>
        <p:spPr>
          <a:xfrm>
            <a:off x="4021297" y="9721108"/>
            <a:ext cx="3076363" cy="511731"/>
          </a:xfrm>
          <a:prstGeom prst="rect">
            <a:avLst/>
          </a:prstGeom>
        </p:spPr>
        <p:txBody>
          <a:bodyPr vert="horz" lIns="99024" tIns="49512" rIns="99024" bIns="49512" rtlCol="0" anchor="b"/>
          <a:lstStyle>
            <a:lvl1pPr algn="r">
              <a:defRPr sz="1200"/>
            </a:lvl1pPr>
          </a:lstStyle>
          <a:p>
            <a:fld id="{C9D91F05-50D7-A946-8902-88FA310261AF}" type="slidenum">
              <a:rPr lang="en-US" smtClean="0"/>
              <a:pPr/>
              <a:t>‹#›</a:t>
            </a:fld>
            <a:endParaRPr lang="en-US"/>
          </a:p>
        </p:txBody>
      </p:sp>
    </p:spTree>
    <p:extLst>
      <p:ext uri="{BB962C8B-B14F-4D97-AF65-F5344CB8AC3E}">
        <p14:creationId xmlns:p14="http://schemas.microsoft.com/office/powerpoint/2010/main" val="873952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076363" cy="513507"/>
          </a:xfrm>
          <a:prstGeom prst="rect">
            <a:avLst/>
          </a:prstGeom>
        </p:spPr>
        <p:txBody>
          <a:bodyPr vert="horz" lIns="99024" tIns="49512" rIns="99024" bIns="49512" rtlCol="0"/>
          <a:lstStyle>
            <a:lvl1pPr algn="l">
              <a:defRPr sz="1200"/>
            </a:lvl1pPr>
          </a:lstStyle>
          <a:p>
            <a:endParaRPr lang="en-SG"/>
          </a:p>
        </p:txBody>
      </p:sp>
      <p:sp>
        <p:nvSpPr>
          <p:cNvPr id="3" name="Date Placeholder 2"/>
          <p:cNvSpPr>
            <a:spLocks noGrp="1"/>
          </p:cNvSpPr>
          <p:nvPr>
            <p:ph type="dt" idx="1"/>
          </p:nvPr>
        </p:nvSpPr>
        <p:spPr>
          <a:xfrm>
            <a:off x="4021297" y="4"/>
            <a:ext cx="3076363" cy="513507"/>
          </a:xfrm>
          <a:prstGeom prst="rect">
            <a:avLst/>
          </a:prstGeom>
        </p:spPr>
        <p:txBody>
          <a:bodyPr vert="horz" lIns="99024" tIns="49512" rIns="99024" bIns="49512" rtlCol="0"/>
          <a:lstStyle>
            <a:lvl1pPr algn="r">
              <a:defRPr sz="1200"/>
            </a:lvl1pPr>
          </a:lstStyle>
          <a:p>
            <a:fld id="{EA4960E5-F060-4C88-B1C5-5A6F5890BEF6}" type="datetimeFigureOut">
              <a:rPr lang="en-SG" smtClean="0"/>
              <a:pPr/>
              <a:t>5/7/2026</a:t>
            </a:fld>
            <a:endParaRPr lang="en-SG"/>
          </a:p>
        </p:txBody>
      </p:sp>
      <p:sp>
        <p:nvSpPr>
          <p:cNvPr id="4" name="Slide Image Placeholder 3"/>
          <p:cNvSpPr>
            <a:spLocks noGrp="1" noRot="1" noChangeAspect="1"/>
          </p:cNvSpPr>
          <p:nvPr>
            <p:ph type="sldImg" idx="2"/>
          </p:nvPr>
        </p:nvSpPr>
        <p:spPr>
          <a:xfrm>
            <a:off x="1246188" y="1277938"/>
            <a:ext cx="4606925" cy="3455987"/>
          </a:xfrm>
          <a:prstGeom prst="rect">
            <a:avLst/>
          </a:prstGeom>
          <a:noFill/>
          <a:ln w="12700">
            <a:solidFill>
              <a:prstClr val="black"/>
            </a:solidFill>
          </a:ln>
        </p:spPr>
        <p:txBody>
          <a:bodyPr vert="horz" lIns="99024" tIns="49512" rIns="99024" bIns="49512" rtlCol="0" anchor="ctr"/>
          <a:lstStyle/>
          <a:p>
            <a:endParaRPr lang="en-SG"/>
          </a:p>
        </p:txBody>
      </p:sp>
      <p:sp>
        <p:nvSpPr>
          <p:cNvPr id="5" name="Notes Placeholder 4"/>
          <p:cNvSpPr>
            <a:spLocks noGrp="1"/>
          </p:cNvSpPr>
          <p:nvPr>
            <p:ph type="body" sz="quarter" idx="3"/>
          </p:nvPr>
        </p:nvSpPr>
        <p:spPr>
          <a:xfrm>
            <a:off x="709931" y="4925407"/>
            <a:ext cx="5679440" cy="4029879"/>
          </a:xfrm>
          <a:prstGeom prst="rect">
            <a:avLst/>
          </a:prstGeom>
        </p:spPr>
        <p:txBody>
          <a:bodyPr vert="horz" lIns="99024" tIns="49512" rIns="99024" bIns="4951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2" y="9721110"/>
            <a:ext cx="3076363" cy="513507"/>
          </a:xfrm>
          <a:prstGeom prst="rect">
            <a:avLst/>
          </a:prstGeom>
        </p:spPr>
        <p:txBody>
          <a:bodyPr vert="horz" lIns="99024" tIns="49512" rIns="99024" bIns="49512" rtlCol="0" anchor="b"/>
          <a:lstStyle>
            <a:lvl1pPr algn="l">
              <a:defRPr sz="1200"/>
            </a:lvl1pPr>
          </a:lstStyle>
          <a:p>
            <a:endParaRPr lang="en-SG"/>
          </a:p>
        </p:txBody>
      </p:sp>
      <p:sp>
        <p:nvSpPr>
          <p:cNvPr id="7" name="Slide Number Placeholder 6"/>
          <p:cNvSpPr>
            <a:spLocks noGrp="1"/>
          </p:cNvSpPr>
          <p:nvPr>
            <p:ph type="sldNum" sz="quarter" idx="5"/>
          </p:nvPr>
        </p:nvSpPr>
        <p:spPr>
          <a:xfrm>
            <a:off x="4021297" y="9721110"/>
            <a:ext cx="3076363" cy="513507"/>
          </a:xfrm>
          <a:prstGeom prst="rect">
            <a:avLst/>
          </a:prstGeom>
        </p:spPr>
        <p:txBody>
          <a:bodyPr vert="horz" lIns="99024" tIns="49512" rIns="99024" bIns="49512" rtlCol="0" anchor="b"/>
          <a:lstStyle>
            <a:lvl1pPr algn="r">
              <a:defRPr sz="1200"/>
            </a:lvl1pPr>
          </a:lstStyle>
          <a:p>
            <a:fld id="{5E13ECD2-14D7-4265-AF23-95505127F74C}" type="slidenum">
              <a:rPr lang="en-SG" smtClean="0"/>
              <a:pPr/>
              <a:t>‹#›</a:t>
            </a:fld>
            <a:endParaRPr lang="en-SG"/>
          </a:p>
        </p:txBody>
      </p:sp>
    </p:spTree>
    <p:extLst>
      <p:ext uri="{BB962C8B-B14F-4D97-AF65-F5344CB8AC3E}">
        <p14:creationId xmlns:p14="http://schemas.microsoft.com/office/powerpoint/2010/main" val="1663632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pPr defTabSz="914326">
              <a:defRPr/>
            </a:pPr>
            <a:fld id="{5E13ECD2-14D7-4265-AF23-95505127F74C}" type="slidenum">
              <a:rPr lang="en-SG">
                <a:solidFill>
                  <a:prstClr val="black"/>
                </a:solidFill>
                <a:latin typeface="Calibri"/>
              </a:rPr>
              <a:pPr defTabSz="914326">
                <a:defRPr/>
              </a:pPr>
              <a:t>1</a:t>
            </a:fld>
            <a:endParaRPr lang="en-SG">
              <a:solidFill>
                <a:prstClr val="black"/>
              </a:solidFill>
              <a:latin typeface="Calibri"/>
            </a:endParaRPr>
          </a:p>
        </p:txBody>
      </p:sp>
    </p:spTree>
    <p:extLst>
      <p:ext uri="{BB962C8B-B14F-4D97-AF65-F5344CB8AC3E}">
        <p14:creationId xmlns:p14="http://schemas.microsoft.com/office/powerpoint/2010/main" val="1071138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388466" y="2121318"/>
            <a:ext cx="7411601" cy="1280230"/>
          </a:xfrm>
        </p:spPr>
        <p:txBody>
          <a:bodyPr anchor="t">
            <a:normAutofit/>
          </a:bodyPr>
          <a:lstStyle>
            <a:lvl1pPr algn="l">
              <a:defRPr sz="4400" b="1" cap="all" baseline="0">
                <a:solidFill>
                  <a:srgbClr val="173F7E"/>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0" name="Text Placeholder 10"/>
          <p:cNvSpPr>
            <a:spLocks noGrp="1"/>
          </p:cNvSpPr>
          <p:nvPr>
            <p:ph type="body" sz="quarter" idx="13"/>
          </p:nvPr>
        </p:nvSpPr>
        <p:spPr>
          <a:xfrm>
            <a:off x="1388466" y="4127588"/>
            <a:ext cx="6846887" cy="1441107"/>
          </a:xfrm>
        </p:spPr>
        <p:txBody>
          <a:bodyPr>
            <a:normAutofit/>
          </a:bodyPr>
          <a:lstStyle>
            <a:lvl1pPr marL="0" indent="0">
              <a:buNone/>
              <a:defRPr sz="2000" b="1">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1" name="Picture 1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pic>
        <p:nvPicPr>
          <p:cNvPr id="13" name="Picture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4" name="Picture 1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sp>
        <p:nvSpPr>
          <p:cNvPr id="15"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6" name="Picture 15"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4"/>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89565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Agenda</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2" name="Text Placeholder 11"/>
          <p:cNvSpPr>
            <a:spLocks noGrp="1"/>
          </p:cNvSpPr>
          <p:nvPr>
            <p:ph type="body" sz="quarter" idx="13" hasCustomPrompt="1"/>
          </p:nvPr>
        </p:nvSpPr>
        <p:spPr>
          <a:xfrm>
            <a:off x="628650" y="1167027"/>
            <a:ext cx="7886700" cy="4143375"/>
          </a:xfrm>
        </p:spPr>
        <p:txBody>
          <a:bodyPr/>
          <a:lstStyle>
            <a:lvl1pPr marL="514350" indent="-514350" algn="just">
              <a:buFont typeface="Arial" panose="020B0604020202020204" pitchFamily="34" charset="0"/>
              <a:buChar char="•"/>
              <a:defRPr b="0" cap="none" baseline="0">
                <a:solidFill>
                  <a:schemeClr val="tx1"/>
                </a:solidFill>
              </a:defRPr>
            </a:lvl1pPr>
            <a:lvl2pPr>
              <a:defRPr>
                <a:solidFill>
                  <a:schemeClr val="tx1">
                    <a:lumMod val="75000"/>
                    <a:lumOff val="25000"/>
                  </a:schemeClr>
                </a:solidFill>
              </a:defRPr>
            </a:lvl2pPr>
          </a:lstStyle>
          <a:p>
            <a:pPr lvl="0"/>
            <a:r>
              <a:rPr lang="en-US" dirty="0"/>
              <a:t>Agenda 1</a:t>
            </a:r>
          </a:p>
          <a:p>
            <a:pPr lvl="0"/>
            <a:r>
              <a:rPr lang="en-US" dirty="0"/>
              <a:t>Agenda 2</a:t>
            </a:r>
          </a:p>
          <a:p>
            <a:pPr lvl="0"/>
            <a:r>
              <a:rPr lang="en-US" dirty="0"/>
              <a:t>Agenda 3</a:t>
            </a:r>
          </a:p>
          <a:p>
            <a:pPr lvl="0"/>
            <a:r>
              <a:rPr lang="en-US" dirty="0"/>
              <a:t>Agenda 4</a:t>
            </a:r>
          </a:p>
          <a:p>
            <a:pPr lvl="0"/>
            <a:r>
              <a:rPr lang="en-US" dirty="0"/>
              <a:t>Agenda 5</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9"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0" name="Picture 9"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2546795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Title</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0"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1" name="Picture 10"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17807070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spTree>
    <p:extLst>
      <p:ext uri="{BB962C8B-B14F-4D97-AF65-F5344CB8AC3E}">
        <p14:creationId xmlns:p14="http://schemas.microsoft.com/office/powerpoint/2010/main" val="344046255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ISSM Day3 worksheet</a:t>
            </a:r>
          </a:p>
        </p:txBody>
      </p:sp>
      <p:sp>
        <p:nvSpPr>
          <p:cNvPr id="6" name="Text Placeholder 5"/>
          <p:cNvSpPr>
            <a:spLocks noGrp="1"/>
          </p:cNvSpPr>
          <p:nvPr>
            <p:ph type="body" sz="quarter" idx="13"/>
          </p:nvPr>
        </p:nvSpPr>
        <p:spPr/>
        <p:txBody>
          <a:bodyPr/>
          <a:lstStyle/>
          <a:p>
            <a:pPr marL="342900" indent="-342900" algn="just">
              <a:buFont typeface="Arial" panose="020B0604020202020204" pitchFamily="34" charset="0"/>
              <a:buChar char="•"/>
            </a:pPr>
            <a:r>
              <a:rPr lang="en-US" b="0" dirty="0"/>
              <a:t>This activity involves a group discussion.</a:t>
            </a:r>
          </a:p>
          <a:p>
            <a:pPr marL="342900" indent="-342900" algn="just">
              <a:buFont typeface="Arial" panose="020B0604020202020204" pitchFamily="34" charset="0"/>
              <a:buChar char="•"/>
            </a:pPr>
            <a:r>
              <a:rPr lang="en-US" b="0" dirty="0"/>
              <a:t>You are </a:t>
            </a:r>
            <a:r>
              <a:rPr lang="en-US" b="0" dirty="0">
                <a:solidFill>
                  <a:srgbClr val="C00000"/>
                </a:solidFill>
              </a:rPr>
              <a:t>allowed</a:t>
            </a:r>
            <a:r>
              <a:rPr lang="en-US" b="0" dirty="0"/>
              <a:t> to use AI tools for this discussion.</a:t>
            </a: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1</a:t>
            </a:fld>
            <a:endParaRPr lang="en-SG" dirty="0"/>
          </a:p>
        </p:txBody>
      </p:sp>
    </p:spTree>
    <p:extLst>
      <p:ext uri="{BB962C8B-B14F-4D97-AF65-F5344CB8AC3E}">
        <p14:creationId xmlns:p14="http://schemas.microsoft.com/office/powerpoint/2010/main" val="314249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members</a:t>
            </a:r>
            <a:endParaRPr lang="en-SG" dirty="0"/>
          </a:p>
        </p:txBody>
      </p:sp>
      <p:sp>
        <p:nvSpPr>
          <p:cNvPr id="3" name="Text Placeholder 2"/>
          <p:cNvSpPr>
            <a:spLocks noGrp="1"/>
          </p:cNvSpPr>
          <p:nvPr>
            <p:ph type="body" sz="quarter" idx="13"/>
          </p:nvPr>
        </p:nvSpPr>
        <p:spPr/>
        <p:txBody>
          <a:bodyPr/>
          <a:lstStyle/>
          <a:p>
            <a:r>
              <a:rPr lang="en-US" dirty="0"/>
              <a:t>List your team members’ </a:t>
            </a:r>
            <a:r>
              <a:rPr lang="en-US" dirty="0">
                <a:highlight>
                  <a:srgbClr val="FFFF00"/>
                </a:highlight>
              </a:rPr>
              <a:t>full names</a:t>
            </a:r>
            <a:r>
              <a:rPr lang="en-US" dirty="0"/>
              <a:t> (as in your course registration)</a:t>
            </a:r>
            <a:endParaRPr lang="en-SG" dirty="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2</a:t>
            </a:fld>
            <a:endParaRPr lang="en-SG" dirty="0"/>
          </a:p>
        </p:txBody>
      </p:sp>
    </p:spTree>
    <p:extLst>
      <p:ext uri="{BB962C8B-B14F-4D97-AF65-F5344CB8AC3E}">
        <p14:creationId xmlns:p14="http://schemas.microsoft.com/office/powerpoint/2010/main" val="294031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endParaRPr lang="en-SG" dirty="0"/>
          </a:p>
        </p:txBody>
      </p:sp>
      <p:sp>
        <p:nvSpPr>
          <p:cNvPr id="3" name="Text Placeholder 2"/>
          <p:cNvSpPr>
            <a:spLocks noGrp="1"/>
          </p:cNvSpPr>
          <p:nvPr>
            <p:ph type="body" sz="quarter" idx="4294967295"/>
          </p:nvPr>
        </p:nvSpPr>
        <p:spPr>
          <a:xfrm>
            <a:off x="161624" y="882142"/>
            <a:ext cx="8723583" cy="3249912"/>
          </a:xfrm>
        </p:spPr>
        <p:txBody>
          <a:bodyPr>
            <a:noAutofit/>
          </a:bodyPr>
          <a:lstStyle/>
          <a:p>
            <a:pPr marL="0" indent="0" algn="just">
              <a:buNone/>
            </a:pPr>
            <a:r>
              <a:rPr lang="en-US" sz="1800" dirty="0">
                <a:solidFill>
                  <a:srgbClr val="C00000"/>
                </a:solidFill>
              </a:rPr>
              <a:t>Use case: A smart fish tank monitoring system</a:t>
            </a:r>
          </a:p>
          <a:p>
            <a:pPr marL="0" indent="0" algn="just">
              <a:buNone/>
            </a:pPr>
            <a:r>
              <a:rPr lang="en-US" sz="1800" dirty="0"/>
              <a:t>Feeding is one of the key aspects of aquaculture and is an important factor in determining the profitability of aquaculture enterprises. Traditionally, the feeding amount is determined by fish farmers relying on their experience. However, this method is highly affected by the level of the worker’s expertise and is subjective and uncertain. To solve these problems, it is important to have automatic and precise control of the feeding amount. Currently, the assessment of fish appetite mainly deals with the information obtained from acoustic, optical, temperature, and oxygen level sensors, and establishes the relationship between the features of fish feeding behavior and fish appetite. </a:t>
            </a:r>
            <a:endParaRPr lang="en-SG" sz="1800" dirty="0"/>
          </a:p>
          <a:p>
            <a:pPr marL="0" indent="0" algn="just">
              <a:buNone/>
            </a:pPr>
            <a:endParaRPr lang="en-SG" sz="1200" dirty="0">
              <a:solidFill>
                <a:schemeClr val="tx1"/>
              </a:solidFill>
            </a:endParaRPr>
          </a:p>
        </p:txBody>
      </p:sp>
      <p:pic>
        <p:nvPicPr>
          <p:cNvPr id="8" name="Picture 7" descr="A picture containing kitchenware, pot&#10;&#10;Description automatically generated"/>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05650" y="3608604"/>
            <a:ext cx="3657600" cy="2687974"/>
          </a:xfrm>
          <a:prstGeom prst="rect">
            <a:avLst/>
          </a:prstGeom>
        </p:spPr>
      </p:pic>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pPr algn="ctr"/>
              <a:t>3</a:t>
            </a:fld>
            <a:endParaRPr lang="en-SG" dirty="0"/>
          </a:p>
        </p:txBody>
      </p:sp>
    </p:spTree>
    <p:extLst>
      <p:ext uri="{BB962C8B-B14F-4D97-AF65-F5344CB8AC3E}">
        <p14:creationId xmlns:p14="http://schemas.microsoft.com/office/powerpoint/2010/main" val="349131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endParaRPr lang="en-SG" dirty="0"/>
          </a:p>
        </p:txBody>
      </p:sp>
      <p:sp>
        <p:nvSpPr>
          <p:cNvPr id="5" name="Rectangle 4"/>
          <p:cNvSpPr/>
          <p:nvPr/>
        </p:nvSpPr>
        <p:spPr>
          <a:xfrm>
            <a:off x="181153" y="1009182"/>
            <a:ext cx="8729933" cy="2031325"/>
          </a:xfrm>
          <a:prstGeom prst="rect">
            <a:avLst/>
          </a:prstGeom>
        </p:spPr>
        <p:txBody>
          <a:bodyPr wrap="square">
            <a:spAutoFit/>
          </a:bodyPr>
          <a:lstStyle/>
          <a:p>
            <a:pPr algn="just"/>
            <a:r>
              <a:rPr lang="en-US" dirty="0"/>
              <a:t>To study the fish's feeding behavior, you have collected data, including oxygen measurements of the fish tank, which are taken every second. In addition, you have collected the fish motion speed that is measured by a computer vision-based solution. The fish motion speed is defined as the overall speed averaged by all fish in the unit of pixels per second. After you plotted these measurements over a long period, you noticed abnormal events (i.e., A and B) as highlighted in the Figure below. </a:t>
            </a:r>
            <a:r>
              <a:rPr lang="en-US" b="1" dirty="0"/>
              <a:t>State the difference between these two anomaly events, A and B.</a:t>
            </a:r>
            <a:endParaRPr lang="en-SG" b="1" dirty="0"/>
          </a:p>
        </p:txBody>
      </p:sp>
      <p:pic>
        <p:nvPicPr>
          <p:cNvPr id="7" name="Picture 6"/>
          <p:cNvPicPr/>
          <p:nvPr/>
        </p:nvPicPr>
        <p:blipFill>
          <a:blip r:embed="rId2" cstate="screen">
            <a:extLst>
              <a:ext uri="{28A0092B-C50C-407E-A947-70E740481C1C}">
                <a14:useLocalDpi xmlns:a14="http://schemas.microsoft.com/office/drawing/2010/main"/>
              </a:ext>
            </a:extLst>
          </a:blip>
          <a:stretch>
            <a:fillRect/>
          </a:stretch>
        </p:blipFill>
        <p:spPr>
          <a:xfrm>
            <a:off x="2442861" y="3038249"/>
            <a:ext cx="4319905" cy="2813685"/>
          </a:xfrm>
          <a:prstGeom prst="rect">
            <a:avLst/>
          </a:prstGeom>
        </p:spPr>
      </p:pic>
      <p:sp>
        <p:nvSpPr>
          <p:cNvPr id="8" name="TextBox 7"/>
          <p:cNvSpPr txBox="1"/>
          <p:nvPr/>
        </p:nvSpPr>
        <p:spPr>
          <a:xfrm>
            <a:off x="294543" y="5781596"/>
            <a:ext cx="8616543" cy="646331"/>
          </a:xfrm>
          <a:prstGeom prst="rect">
            <a:avLst/>
          </a:prstGeom>
          <a:noFill/>
        </p:spPr>
        <p:txBody>
          <a:bodyPr wrap="square" rtlCol="0">
            <a:spAutoFit/>
          </a:bodyPr>
          <a:lstStyle/>
          <a:p>
            <a:pPr algn="just"/>
            <a:r>
              <a:rPr lang="en-US" dirty="0"/>
              <a:t>The plots of the oxygen measurements of the fish tank (top figure) and the fish motion speeds (bottom figure) over time.</a:t>
            </a:r>
            <a:endParaRPr lang="en-SG" dirty="0" err="1">
              <a:solidFill>
                <a:schemeClr val="tx1">
                  <a:lumMod val="75000"/>
                  <a:lumOff val="25000"/>
                </a:schemeClr>
              </a:solidFill>
            </a:endParaRPr>
          </a:p>
        </p:txBody>
      </p:sp>
      <p:sp>
        <p:nvSpPr>
          <p:cNvPr id="3" name="Slide Number Placeholder 2"/>
          <p:cNvSpPr>
            <a:spLocks noGrp="1"/>
          </p:cNvSpPr>
          <p:nvPr>
            <p:ph type="sldNum" sz="quarter" idx="4"/>
          </p:nvPr>
        </p:nvSpPr>
        <p:spPr/>
        <p:txBody>
          <a:bodyPr/>
          <a:lstStyle/>
          <a:p>
            <a:pPr algn="ctr"/>
            <a:r>
              <a:rPr lang="en-SG"/>
              <a:t>Page </a:t>
            </a:r>
            <a:fld id="{2F63C605-4FC6-46DE-BC90-871762EA3F52}" type="slidenum">
              <a:rPr lang="en-SG" smtClean="0"/>
              <a:pPr algn="ctr"/>
              <a:t>4</a:t>
            </a:fld>
            <a:endParaRPr lang="en-SG" dirty="0"/>
          </a:p>
        </p:txBody>
      </p:sp>
    </p:spTree>
    <p:extLst>
      <p:ext uri="{BB962C8B-B14F-4D97-AF65-F5344CB8AC3E}">
        <p14:creationId xmlns:p14="http://schemas.microsoft.com/office/powerpoint/2010/main" val="4183104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answers to Question 1</a:t>
            </a:r>
            <a:endParaRPr lang="en-SG" dirty="0"/>
          </a:p>
        </p:txBody>
      </p:sp>
      <p:sp>
        <p:nvSpPr>
          <p:cNvPr id="3" name="Slide Number Placeholder 2"/>
          <p:cNvSpPr>
            <a:spLocks noGrp="1"/>
          </p:cNvSpPr>
          <p:nvPr>
            <p:ph type="sldNum" sz="quarter" idx="4"/>
          </p:nvPr>
        </p:nvSpPr>
        <p:spPr/>
        <p:txBody>
          <a:bodyPr/>
          <a:lstStyle/>
          <a:p>
            <a:pPr algn="ctr"/>
            <a:r>
              <a:rPr lang="en-SG"/>
              <a:t>Page </a:t>
            </a:r>
            <a:fld id="{2F63C605-4FC6-46DE-BC90-871762EA3F52}" type="slidenum">
              <a:rPr lang="en-SG" smtClean="0"/>
              <a:pPr algn="ctr"/>
              <a:t>5</a:t>
            </a:fld>
            <a:endParaRPr lang="en-SG" dirty="0"/>
          </a:p>
        </p:txBody>
      </p:sp>
    </p:spTree>
    <p:extLst>
      <p:ext uri="{BB962C8B-B14F-4D97-AF65-F5344CB8AC3E}">
        <p14:creationId xmlns:p14="http://schemas.microsoft.com/office/powerpoint/2010/main" val="3171965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endParaRPr lang="en-SG" dirty="0"/>
          </a:p>
        </p:txBody>
      </p:sp>
      <p:sp>
        <p:nvSpPr>
          <p:cNvPr id="3" name="Rectangle 2"/>
          <p:cNvSpPr/>
          <p:nvPr/>
        </p:nvSpPr>
        <p:spPr>
          <a:xfrm>
            <a:off x="342900" y="1056600"/>
            <a:ext cx="8343900" cy="1685077"/>
          </a:xfrm>
          <a:prstGeom prst="rect">
            <a:avLst/>
          </a:prstGeom>
        </p:spPr>
        <p:txBody>
          <a:bodyPr wrap="square">
            <a:spAutoFit/>
          </a:bodyPr>
          <a:lstStyle/>
          <a:p>
            <a:pPr marR="0" lvl="0" algn="just">
              <a:lnSpc>
                <a:spcPct val="115000"/>
              </a:lnSpc>
              <a:spcBef>
                <a:spcPts val="0"/>
              </a:spcBef>
              <a:spcAft>
                <a:spcPts val="0"/>
              </a:spcAft>
            </a:pPr>
            <a:r>
              <a:rPr lang="en-US" dirty="0">
                <a:solidFill>
                  <a:srgbClr val="000000"/>
                </a:solidFill>
                <a:ea typeface="Calibri" panose="020F0502020204030204" pitchFamily="34" charset="0"/>
                <a:cs typeface="Times New Roman" panose="02020603050405020304" pitchFamily="18" charset="0"/>
              </a:rPr>
              <a:t>To identify each anomaly event A and B, would you use a time-domain signal processing method, a frequency-domain method, or a machine learning method? State your suggestion and explain the reason. If</a:t>
            </a:r>
            <a:r>
              <a:rPr lang="en-US" dirty="0"/>
              <a:t> you choose the machine learning method, describe what data is needed for model training, and suggest one machine learning model.</a:t>
            </a:r>
            <a:endParaRPr lang="en-SG" dirty="0">
              <a:effectLst/>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nvGraphicFramePr>
        <p:xfrm>
          <a:off x="424960" y="2828353"/>
          <a:ext cx="8261840" cy="1381760"/>
        </p:xfrm>
        <a:graphic>
          <a:graphicData uri="http://schemas.openxmlformats.org/drawingml/2006/table">
            <a:tbl>
              <a:tblPr firstRow="1" bandRow="1">
                <a:tableStyleId>{5C22544A-7EE6-4342-B048-85BDC9FD1C3A}</a:tableStyleId>
              </a:tblPr>
              <a:tblGrid>
                <a:gridCol w="1289538">
                  <a:extLst>
                    <a:ext uri="{9D8B030D-6E8A-4147-A177-3AD203B41FA5}">
                      <a16:colId xmlns:a16="http://schemas.microsoft.com/office/drawing/2014/main" val="2938291168"/>
                    </a:ext>
                  </a:extLst>
                </a:gridCol>
                <a:gridCol w="2242038">
                  <a:extLst>
                    <a:ext uri="{9D8B030D-6E8A-4147-A177-3AD203B41FA5}">
                      <a16:colId xmlns:a16="http://schemas.microsoft.com/office/drawing/2014/main" val="1129529162"/>
                    </a:ext>
                  </a:extLst>
                </a:gridCol>
                <a:gridCol w="2312377">
                  <a:extLst>
                    <a:ext uri="{9D8B030D-6E8A-4147-A177-3AD203B41FA5}">
                      <a16:colId xmlns:a16="http://schemas.microsoft.com/office/drawing/2014/main" val="3074423818"/>
                    </a:ext>
                  </a:extLst>
                </a:gridCol>
                <a:gridCol w="2417887">
                  <a:extLst>
                    <a:ext uri="{9D8B030D-6E8A-4147-A177-3AD203B41FA5}">
                      <a16:colId xmlns:a16="http://schemas.microsoft.com/office/drawing/2014/main" val="1899165833"/>
                    </a:ext>
                  </a:extLst>
                </a:gridCol>
              </a:tblGrid>
              <a:tr h="370840">
                <a:tc>
                  <a:txBody>
                    <a:bodyPr/>
                    <a:lstStyle/>
                    <a:p>
                      <a:endParaRPr lang="en-SG" dirty="0"/>
                    </a:p>
                  </a:txBody>
                  <a:tcPr/>
                </a:tc>
                <a:tc>
                  <a:txBody>
                    <a:bodyPr/>
                    <a:lstStyle/>
                    <a:p>
                      <a:r>
                        <a:rPr lang="en-US" dirty="0"/>
                        <a:t>Time-domain method</a:t>
                      </a:r>
                      <a:endParaRPr lang="en-SG" dirty="0"/>
                    </a:p>
                  </a:txBody>
                  <a:tcPr/>
                </a:tc>
                <a:tc>
                  <a:txBody>
                    <a:bodyPr/>
                    <a:lstStyle/>
                    <a:p>
                      <a:r>
                        <a:rPr lang="en-US" dirty="0"/>
                        <a:t>Frequency-domain method</a:t>
                      </a:r>
                      <a:endParaRPr lang="en-SG" dirty="0"/>
                    </a:p>
                  </a:txBody>
                  <a:tcPr/>
                </a:tc>
                <a:tc>
                  <a:txBody>
                    <a:bodyPr/>
                    <a:lstStyle/>
                    <a:p>
                      <a:r>
                        <a:rPr lang="en-US" dirty="0"/>
                        <a:t>Machine learning method</a:t>
                      </a:r>
                      <a:endParaRPr lang="en-SG" dirty="0"/>
                    </a:p>
                  </a:txBody>
                  <a:tcPr/>
                </a:tc>
                <a:extLst>
                  <a:ext uri="{0D108BD9-81ED-4DB2-BD59-A6C34878D82A}">
                    <a16:rowId xmlns:a16="http://schemas.microsoft.com/office/drawing/2014/main" val="2415215586"/>
                  </a:ext>
                </a:extLst>
              </a:tr>
              <a:tr h="370840">
                <a:tc>
                  <a:txBody>
                    <a:bodyPr/>
                    <a:lstStyle/>
                    <a:p>
                      <a:r>
                        <a:rPr lang="en-US" dirty="0"/>
                        <a:t>Event A</a:t>
                      </a:r>
                      <a:endParaRPr lang="en-SG" dirty="0"/>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775999391"/>
                  </a:ext>
                </a:extLst>
              </a:tr>
              <a:tr h="370840">
                <a:tc>
                  <a:txBody>
                    <a:bodyPr/>
                    <a:lstStyle/>
                    <a:p>
                      <a:r>
                        <a:rPr lang="en-US" dirty="0"/>
                        <a:t>Event B</a:t>
                      </a:r>
                      <a:endParaRPr lang="en-SG" dirty="0"/>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908510112"/>
                  </a:ext>
                </a:extLst>
              </a:tr>
            </a:tbl>
          </a:graphicData>
        </a:graphic>
      </p:graphicFrame>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pPr algn="ctr"/>
              <a:t>6</a:t>
            </a:fld>
            <a:endParaRPr lang="en-SG" dirty="0"/>
          </a:p>
        </p:txBody>
      </p:sp>
    </p:spTree>
    <p:extLst>
      <p:ext uri="{BB962C8B-B14F-4D97-AF65-F5344CB8AC3E}">
        <p14:creationId xmlns:p14="http://schemas.microsoft.com/office/powerpoint/2010/main" val="2901355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Your answers to Question 2</a:t>
            </a:r>
            <a:endParaRPr lang="en-SG" dirty="0"/>
          </a:p>
        </p:txBody>
      </p:sp>
      <p:sp>
        <p:nvSpPr>
          <p:cNvPr id="2" name="Slide Number Placeholder 1"/>
          <p:cNvSpPr>
            <a:spLocks noGrp="1"/>
          </p:cNvSpPr>
          <p:nvPr>
            <p:ph type="sldNum" sz="quarter" idx="4"/>
          </p:nvPr>
        </p:nvSpPr>
        <p:spPr/>
        <p:txBody>
          <a:bodyPr/>
          <a:lstStyle/>
          <a:p>
            <a:pPr algn="ctr"/>
            <a:r>
              <a:rPr lang="en-SG"/>
              <a:t>Page </a:t>
            </a:r>
            <a:fld id="{2F63C605-4FC6-46DE-BC90-871762EA3F52}" type="slidenum">
              <a:rPr lang="en-SG" smtClean="0"/>
              <a:pPr algn="ctr"/>
              <a:t>7</a:t>
            </a:fld>
            <a:endParaRPr lang="en-SG" dirty="0"/>
          </a:p>
        </p:txBody>
      </p:sp>
    </p:spTree>
    <p:extLst>
      <p:ext uri="{BB962C8B-B14F-4D97-AF65-F5344CB8AC3E}">
        <p14:creationId xmlns:p14="http://schemas.microsoft.com/office/powerpoint/2010/main" val="9043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AA2D47-3826-C90D-0D70-70D6E58547AB}"/>
              </a:ext>
            </a:extLst>
          </p:cNvPr>
          <p:cNvSpPr>
            <a:spLocks noGrp="1"/>
          </p:cNvSpPr>
          <p:nvPr>
            <p:ph type="title"/>
          </p:nvPr>
        </p:nvSpPr>
        <p:spPr/>
        <p:txBody>
          <a:bodyPr/>
          <a:lstStyle/>
          <a:p>
            <a:r>
              <a:rPr lang="en-US" dirty="0"/>
              <a:t>AI Tool Declaration</a:t>
            </a:r>
            <a:endParaRPr lang="en-SG" dirty="0"/>
          </a:p>
        </p:txBody>
      </p:sp>
      <p:graphicFrame>
        <p:nvGraphicFramePr>
          <p:cNvPr id="5" name="Table 4">
            <a:extLst>
              <a:ext uri="{FF2B5EF4-FFF2-40B4-BE49-F238E27FC236}">
                <a16:creationId xmlns:a16="http://schemas.microsoft.com/office/drawing/2014/main" id="{6BC3A709-CDB4-0254-531A-9D68A4B6FB54}"/>
              </a:ext>
            </a:extLst>
          </p:cNvPr>
          <p:cNvGraphicFramePr>
            <a:graphicFrameLocks noGrp="1"/>
          </p:cNvGraphicFramePr>
          <p:nvPr/>
        </p:nvGraphicFramePr>
        <p:xfrm>
          <a:off x="342181" y="1164086"/>
          <a:ext cx="8318740" cy="4023360"/>
        </p:xfrm>
        <a:graphic>
          <a:graphicData uri="http://schemas.openxmlformats.org/drawingml/2006/table">
            <a:tbl>
              <a:tblPr firstRow="1" bandRow="1">
                <a:tableStyleId>{5C22544A-7EE6-4342-B048-85BDC9FD1C3A}</a:tableStyleId>
              </a:tblPr>
              <a:tblGrid>
                <a:gridCol w="8318740">
                  <a:extLst>
                    <a:ext uri="{9D8B030D-6E8A-4147-A177-3AD203B41FA5}">
                      <a16:colId xmlns:a16="http://schemas.microsoft.com/office/drawing/2014/main" val="2368900831"/>
                    </a:ext>
                  </a:extLst>
                </a:gridCol>
              </a:tblGrid>
              <a:tr h="370840">
                <a:tc>
                  <a:txBody>
                    <a:bodyPr/>
                    <a:lstStyle/>
                    <a:p>
                      <a:r>
                        <a:rPr lang="en-US" b="0" dirty="0">
                          <a:solidFill>
                            <a:schemeClr val="tx1"/>
                          </a:solidFill>
                        </a:rPr>
                        <a:t>[</a:t>
                      </a:r>
                      <a:r>
                        <a:rPr lang="en-US" b="0" i="1" dirty="0">
                          <a:solidFill>
                            <a:schemeClr val="tx1"/>
                          </a:solidFill>
                        </a:rPr>
                        <a:t>Sample declaration copied from Canvas</a:t>
                      </a:r>
                      <a:r>
                        <a:rPr lang="en-US" b="0" dirty="0">
                          <a:solidFill>
                            <a:schemeClr val="tx1"/>
                          </a:solidFill>
                        </a:rPr>
                        <a:t>]</a:t>
                      </a:r>
                    </a:p>
                    <a:p>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didn't use any AI tool.</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used [AI tool name, e.g., GPT-5.1] to [describe specific uses: e.g., generate ideas, format paragraphs, improve expression, </a:t>
                      </a:r>
                      <a:r>
                        <a:rPr lang="en-US" b="0" dirty="0" err="1">
                          <a:solidFill>
                            <a:schemeClr val="tx1"/>
                          </a:solidFill>
                        </a:rPr>
                        <a:t>analyse</a:t>
                      </a:r>
                      <a:r>
                        <a:rPr lang="en-US" b="0" dirty="0">
                          <a:solidFill>
                            <a:schemeClr val="tx1"/>
                          </a:solidFill>
                        </a:rPr>
                        <a:t> effectiveness, create images and illustrations, produce drafts, refine, and/or </a:t>
                      </a:r>
                      <a:r>
                        <a:rPr lang="en-US" b="0" dirty="0" err="1">
                          <a:solidFill>
                            <a:schemeClr val="tx1"/>
                          </a:solidFill>
                        </a:rPr>
                        <a:t>finalise</a:t>
                      </a:r>
                      <a:r>
                        <a:rPr lang="en-US" b="0" dirty="0">
                          <a:solidFill>
                            <a:schemeClr val="tx1"/>
                          </a:solidFill>
                        </a:rPr>
                        <a:t> my assignment]. The authors are responsible for the content and quality of the submitted work.</a:t>
                      </a:r>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7375410"/>
                  </a:ext>
                </a:extLst>
              </a:tr>
              <a:tr h="370840">
                <a:tc>
                  <a:txBody>
                    <a:bodyPr/>
                    <a:lstStyle/>
                    <a:p>
                      <a:r>
                        <a:rPr lang="en-US" b="0" dirty="0">
                          <a:solidFill>
                            <a:schemeClr val="tx1"/>
                          </a:solidFill>
                        </a:rPr>
                        <a:t>[</a:t>
                      </a:r>
                      <a:r>
                        <a:rPr lang="en-US" b="0" i="1" dirty="0">
                          <a:solidFill>
                            <a:schemeClr val="tx1"/>
                          </a:solidFill>
                        </a:rPr>
                        <a:t>Provide your declaration here]</a:t>
                      </a:r>
                    </a:p>
                    <a:p>
                      <a:endParaRPr lang="en-SG" b="0" dirty="0">
                        <a:solidFill>
                          <a:schemeClr val="tx1"/>
                        </a:solidFill>
                      </a:endParaRPr>
                    </a:p>
                    <a:p>
                      <a:endParaRPr lang="en-SG" b="0" dirty="0">
                        <a:solidFill>
                          <a:schemeClr val="tx1"/>
                        </a:solidFill>
                      </a:endParaRPr>
                    </a:p>
                    <a:p>
                      <a:endParaRPr lang="en-SG" b="0" dirty="0">
                        <a:solidFill>
                          <a:schemeClr val="tx1"/>
                        </a:solidFill>
                      </a:endParaRPr>
                    </a:p>
                    <a:p>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71435"/>
                  </a:ext>
                </a:extLst>
              </a:tr>
            </a:tbl>
          </a:graphicData>
        </a:graphic>
      </p:graphicFrame>
      <p:sp>
        <p:nvSpPr>
          <p:cNvPr id="2" name="Slide Number Placeholder 1">
            <a:extLst>
              <a:ext uri="{FF2B5EF4-FFF2-40B4-BE49-F238E27FC236}">
                <a16:creationId xmlns:a16="http://schemas.microsoft.com/office/drawing/2014/main" id="{C73EBF33-7EC1-0415-FC13-8DA246378C33}"/>
              </a:ext>
            </a:extLst>
          </p:cNvPr>
          <p:cNvSpPr>
            <a:spLocks noGrp="1"/>
          </p:cNvSpPr>
          <p:nvPr>
            <p:ph type="sldNum" sz="quarter" idx="4"/>
          </p:nvPr>
        </p:nvSpPr>
        <p:spPr/>
        <p:txBody>
          <a:bodyPr/>
          <a:lstStyle/>
          <a:p>
            <a:pPr algn="ctr"/>
            <a:r>
              <a:rPr lang="en-SG"/>
              <a:t>Page </a:t>
            </a:r>
            <a:fld id="{2F63C605-4FC6-46DE-BC90-871762EA3F52}" type="slidenum">
              <a:rPr lang="en-SG" smtClean="0"/>
              <a:pPr algn="ctr"/>
              <a:t>8</a:t>
            </a:fld>
            <a:endParaRPr lang="en-SG" dirty="0"/>
          </a:p>
        </p:txBody>
      </p:sp>
    </p:spTree>
    <p:extLst>
      <p:ext uri="{BB962C8B-B14F-4D97-AF65-F5344CB8AC3E}">
        <p14:creationId xmlns:p14="http://schemas.microsoft.com/office/powerpoint/2010/main" val="3701171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UTOFOOTER" val="No"/>
</p:tagLst>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173F7E"/>
      </a:accent1>
      <a:accent2>
        <a:srgbClr val="F58220"/>
      </a:accent2>
      <a:accent3>
        <a:srgbClr val="404040"/>
      </a:accent3>
      <a:accent4>
        <a:srgbClr val="33BBBC"/>
      </a:accent4>
      <a:accent5>
        <a:srgbClr val="7F7F7F"/>
      </a:accent5>
      <a:accent6>
        <a:srgbClr val="FFFFFF"/>
      </a:accent6>
      <a:hlink>
        <a:srgbClr val="173F7E"/>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Theme1" id="{91B66467-7EFC-4B58-A0EB-3450E8B960CD}" vid="{B85C76FD-7EC2-4663-96A4-3E9E85EF7C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5531</TotalTime>
  <Words>493</Words>
  <Application>Microsoft Office PowerPoint</Application>
  <PresentationFormat>On-screen Show (4:3)</PresentationFormat>
  <Paragraphs>38</Paragraphs>
  <Slides>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1_Theme1</vt:lpstr>
      <vt:lpstr>ISSM Day3 worksheet</vt:lpstr>
      <vt:lpstr>Team members</vt:lpstr>
      <vt:lpstr>Case study</vt:lpstr>
      <vt:lpstr>Question 1</vt:lpstr>
      <vt:lpstr>Your answers to Question 1</vt:lpstr>
      <vt:lpstr>Question 2</vt:lpstr>
      <vt:lpstr>Your answers to Question 2</vt:lpstr>
      <vt:lpstr>AI Tool Declaration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Xingkang</dc:creator>
  <cp:lastModifiedBy>Tian Jing</cp:lastModifiedBy>
  <cp:revision>1071</cp:revision>
  <cp:lastPrinted>2017-10-05T01:59:11Z</cp:lastPrinted>
  <dcterms:created xsi:type="dcterms:W3CDTF">2014-12-11T07:55:35Z</dcterms:created>
  <dcterms:modified xsi:type="dcterms:W3CDTF">2026-07-05T04:13:33Z</dcterms:modified>
</cp:coreProperties>
</file>